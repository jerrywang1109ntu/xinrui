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286000"/>
            <a:ext cx="11277295" cy="1371600"/>
          </a:xfrm>
          <a:prstGeom prst="rect">
            <a:avLst/>
          </a:prstGeom>
          <a:noFill/>
        </p:spPr>
        <p:txBody>
          <a:bodyPr wrap="square">
            <a:spAutoFit/>
          </a:bodyPr>
          <a:lstStyle/>
          <a:p>
            <a:pPr algn="ctr">
              <a:defRPr sz="3600" b="1">
                <a:latin typeface="Microsoft YaHei"/>
              </a:defRPr>
            </a:pPr>
            <a:r>
              <a:t>城市轨道交通变电所高压开关柜</a:t>
            </a:r>
          </a:p>
          <a:p>
            <a:pPr algn="ctr">
              <a:defRPr sz="3600" b="1">
                <a:latin typeface="Microsoft YaHei"/>
              </a:defRPr>
            </a:pPr>
            <a:r>
              <a:t>在线监测技术的应用与维护策略分析</a:t>
            </a:r>
          </a:p>
        </p:txBody>
      </p:sp>
      <p:sp>
        <p:nvSpPr>
          <p:cNvPr id="3" name="TextBox 2"/>
          <p:cNvSpPr txBox="1"/>
          <p:nvPr/>
        </p:nvSpPr>
        <p:spPr>
          <a:xfrm>
            <a:off x="457200" y="4114800"/>
            <a:ext cx="11277295" cy="1828800"/>
          </a:xfrm>
          <a:prstGeom prst="rect">
            <a:avLst/>
          </a:prstGeom>
          <a:noFill/>
        </p:spPr>
        <p:txBody>
          <a:bodyPr wrap="none">
            <a:spAutoFit/>
          </a:bodyPr>
          <a:lstStyle/>
          <a:p>
            <a:pPr algn="ctr">
              <a:defRPr sz="2000">
                <a:latin typeface="Microsoft YaHei"/>
              </a:defRPr>
            </a:pPr>
            <a:r>
              <a:t>答辩人：况欣睿</a:t>
            </a:r>
          </a:p>
          <a:p>
            <a:pPr algn="ctr">
              <a:defRPr sz="2000">
                <a:latin typeface="Microsoft YaHei"/>
              </a:defRPr>
            </a:pPr>
            <a:r>
              <a:t>学号：2022010400756</a:t>
            </a:r>
          </a:p>
          <a:p>
            <a:pPr algn="ctr">
              <a:defRPr sz="2000">
                <a:latin typeface="Microsoft YaHei"/>
              </a:defRPr>
            </a:pPr>
            <a:r>
              <a:t>专业：高速铁路维修技术</a:t>
            </a:r>
          </a:p>
          <a:p>
            <a:pPr algn="ctr">
              <a:defRPr sz="2000">
                <a:latin typeface="Microsoft YaHei"/>
              </a:defRPr>
            </a:pPr>
            <a:r>
              <a:t>指导教师：孙乾坤</a:t>
            </a:r>
          </a:p>
          <a:p>
            <a:pPr algn="ctr">
              <a:defRPr sz="2000">
                <a:latin typeface="Microsoft YaHei"/>
              </a:defRPr>
            </a:pPr>
            <a:r>
              <a:t>完成日期：2025年12月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 封面</a:t>
            </a:r>
          </a:p>
        </p:txBody>
      </p:sp>
      <p:sp>
        <p:nvSpPr>
          <p:cNvPr id="3" name="Content Placeholder 2"/>
          <p:cNvSpPr>
            <a:spLocks noGrp="1"/>
          </p:cNvSpPr>
          <p:nvPr>
            <p:ph idx="1"/>
          </p:nvPr>
        </p:nvSpPr>
        <p:spPr/>
        <p:txBody>
          <a:bodyPr/>
          <a:lstStyle/>
          <a:p>
            <a:pPr>
              <a:spcBef>
                <a:spcPts val="1200"/>
              </a:spcBef>
              <a:defRPr sz="2000">
                <a:latin typeface="Microsoft YaHei"/>
              </a:defRPr>
            </a:pPr>
            <a:r>
              <a:t>城市轨道交通变电所高压开关柜在线监测技术的应用与维护策略分析</a:t>
            </a:r>
          </a:p>
          <a:p>
            <a:pPr>
              <a:spcBef>
                <a:spcPts val="1200"/>
              </a:spcBef>
              <a:defRPr sz="2000">
                <a:latin typeface="Microsoft YaHei"/>
              </a:defRPr>
            </a:pPr>
            <a:r>
              <a:t>答辩人：况欣睿</a:t>
            </a:r>
          </a:p>
          <a:p>
            <a:pPr>
              <a:spcBef>
                <a:spcPts val="1200"/>
              </a:spcBef>
              <a:defRPr sz="2000">
                <a:latin typeface="Microsoft YaHei"/>
              </a:defRPr>
            </a:pPr>
            <a:r>
              <a:t>学号：2022010400756</a:t>
            </a:r>
          </a:p>
          <a:p>
            <a:pPr>
              <a:spcBef>
                <a:spcPts val="1200"/>
              </a:spcBef>
              <a:defRPr sz="2000">
                <a:latin typeface="Microsoft YaHei"/>
              </a:defRPr>
            </a:pPr>
            <a:r>
              <a:t>专业：高速铁路维修技术</a:t>
            </a:r>
          </a:p>
          <a:p>
            <a:pPr>
              <a:spcBef>
                <a:spcPts val="1200"/>
              </a:spcBef>
              <a:defRPr sz="2000">
                <a:latin typeface="Microsoft YaHei"/>
              </a:defRPr>
            </a:pPr>
            <a:r>
              <a:t>指导教师：孙乾坤</a:t>
            </a:r>
          </a:p>
          <a:p>
            <a:pPr>
              <a:spcBef>
                <a:spcPts val="1200"/>
              </a:spcBef>
              <a:defRPr sz="2000">
                <a:latin typeface="Microsoft YaHei"/>
              </a:defRPr>
            </a:pPr>
            <a:r>
              <a:t>完成日期：2025年12月</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4000" b="1">
                <a:latin typeface="Microsoft YaHei"/>
              </a:defRPr>
            </a:pPr>
            <a:r>
              <a:t>目 录</a:t>
            </a:r>
          </a:p>
        </p:txBody>
      </p:sp>
      <p:sp>
        <p:nvSpPr>
          <p:cNvPr id="3" name="Content Placeholder 2"/>
          <p:cNvSpPr>
            <a:spLocks noGrp="1"/>
          </p:cNvSpPr>
          <p:nvPr>
            <p:ph idx="1"/>
          </p:nvPr>
        </p:nvSpPr>
        <p:spPr/>
        <p:txBody>
          <a:bodyPr/>
          <a:lstStyle/>
          <a:p>
            <a:pPr>
              <a:spcBef>
                <a:spcPts val="1800"/>
              </a:spcBef>
              <a:defRPr sz="2400">
                <a:latin typeface="Microsoft YaHei"/>
              </a:defRPr>
            </a:pPr>
            <a:r>
              <a:t>1. 研究背景与意义</a:t>
            </a:r>
          </a:p>
          <a:p>
            <a:pPr>
              <a:spcBef>
                <a:spcPts val="1800"/>
              </a:spcBef>
              <a:defRPr sz="2400">
                <a:latin typeface="Microsoft YaHei"/>
              </a:defRPr>
            </a:pPr>
            <a:r>
              <a:t>2. 研究内容与方法</a:t>
            </a:r>
          </a:p>
          <a:p>
            <a:pPr>
              <a:spcBef>
                <a:spcPts val="1800"/>
              </a:spcBef>
              <a:defRPr sz="2400">
                <a:latin typeface="Microsoft YaHei"/>
              </a:defRPr>
            </a:pPr>
            <a:r>
              <a:t>3. 在线监测技术应用</a:t>
            </a:r>
          </a:p>
          <a:p>
            <a:pPr>
              <a:spcBef>
                <a:spcPts val="1800"/>
              </a:spcBef>
              <a:defRPr sz="2400">
                <a:latin typeface="Microsoft YaHei"/>
              </a:defRPr>
            </a:pPr>
            <a:r>
              <a:t>4. 维护策略与故障处理</a:t>
            </a:r>
          </a:p>
          <a:p>
            <a:pPr>
              <a:spcBef>
                <a:spcPts val="1800"/>
              </a:spcBef>
              <a:defRPr sz="2400">
                <a:latin typeface="Microsoft YaHei"/>
              </a:defRPr>
            </a:pPr>
            <a:r>
              <a:t>5. 模拟分析与效果评估</a:t>
            </a:r>
          </a:p>
          <a:p>
            <a:pPr>
              <a:spcBef>
                <a:spcPts val="1800"/>
              </a:spcBef>
              <a:defRPr sz="2400">
                <a:latin typeface="Microsoft YaHei"/>
              </a:defRPr>
            </a:pPr>
            <a:r>
              <a:t>6. 结论与展望</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#3 研究背景（一）</a:t>
            </a:r>
          </a:p>
        </p:txBody>
      </p:sp>
      <p:sp>
        <p:nvSpPr>
          <p:cNvPr id="3" name="Content Placeholder 2"/>
          <p:cNvSpPr>
            <a:spLocks noGrp="1"/>
          </p:cNvSpPr>
          <p:nvPr>
            <p:ph idx="1"/>
          </p:nvPr>
        </p:nvSpPr>
        <p:spPr/>
        <p:txBody>
          <a:bodyPr/>
          <a:lstStyle/>
          <a:p>
            <a:pPr>
              <a:spcBef>
                <a:spcPts val="1200"/>
              </a:spcBef>
              <a:defRPr sz="2000">
                <a:latin typeface="Microsoft YaHei"/>
              </a:defRPr>
            </a:pPr>
            <a:r>
              <a:t>行业背景</a:t>
            </a:r>
          </a:p>
          <a:p>
            <a:pPr>
              <a:spcBef>
                <a:spcPts val="1200"/>
              </a:spcBef>
              <a:defRPr sz="2000">
                <a:latin typeface="Microsoft YaHei"/>
              </a:defRPr>
            </a:pPr>
            <a:r>
              <a:t>- 截至2024年底，全国已有超过50个城市开通城市轨道交通</a:t>
            </a:r>
          </a:p>
          <a:p>
            <a:pPr>
              <a:spcBef>
                <a:spcPts val="1200"/>
              </a:spcBef>
              <a:defRPr sz="2000">
                <a:latin typeface="Microsoft YaHei"/>
              </a:defRPr>
            </a:pPr>
            <a:r>
              <a:t>- 运营总里程突破10000公里</a:t>
            </a:r>
          </a:p>
          <a:p>
            <a:pPr>
              <a:spcBef>
                <a:spcPts val="1200"/>
              </a:spcBef>
              <a:defRPr sz="2000">
                <a:latin typeface="Microsoft YaHei"/>
              </a:defRPr>
            </a:pPr>
            <a:r>
              <a:t>- 高压开关柜是变电所的核心设备</a:t>
            </a:r>
          </a:p>
          <a:p>
            <a:pPr>
              <a:spcBef>
                <a:spcPts val="1200"/>
              </a:spcBef>
              <a:defRPr sz="2000">
                <a:latin typeface="Microsoft YaHei"/>
              </a:defRPr>
            </a:pPr>
            <a:r>
              <a:t>存在问题</a:t>
            </a:r>
          </a:p>
          <a:p>
            <a:pPr>
              <a:spcBef>
                <a:spcPts val="1200"/>
              </a:spcBef>
              <a:defRPr sz="2000">
                <a:latin typeface="Microsoft YaHei"/>
              </a:defRPr>
            </a:pPr>
            <a:r>
              <a:t>- 三大主要故障：触头过热、绝缘老化、机械故障</a:t>
            </a:r>
          </a:p>
          <a:p>
            <a:pPr>
              <a:spcBef>
                <a:spcPts val="1200"/>
              </a:spcBef>
              <a:defRPr sz="2000">
                <a:latin typeface="Microsoft YaHei"/>
              </a:defRPr>
            </a:pPr>
            <a:r>
              <a:t>- 传统定期检修模式存在"过修"或"失修"问题</a:t>
            </a:r>
          </a:p>
          <a:p>
            <a:pPr>
              <a:spcBef>
                <a:spcPts val="1200"/>
              </a:spcBef>
              <a:defRPr sz="2000">
                <a:latin typeface="Microsoft YaHei"/>
              </a:defRPr>
            </a:pPr>
            <a:r>
              <a:t>- 故障发现率仅65%，平均处理时间7.2小时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#4 研究背景（二）</a:t>
            </a:r>
          </a:p>
        </p:txBody>
      </p:sp>
      <p:sp>
        <p:nvSpPr>
          <p:cNvPr id="3" name="Content Placeholder 2"/>
          <p:cNvSpPr>
            <a:spLocks noGrp="1"/>
          </p:cNvSpPr>
          <p:nvPr>
            <p:ph idx="1"/>
          </p:nvPr>
        </p:nvSpPr>
        <p:spPr/>
        <p:txBody>
          <a:bodyPr/>
          <a:lstStyle/>
          <a:p>
            <a:pPr>
              <a:spcBef>
                <a:spcPts val="1200"/>
              </a:spcBef>
              <a:defRPr sz="2000">
                <a:latin typeface="Microsoft YaHei"/>
              </a:defRPr>
            </a:pPr>
            <a:r>
              <a:t>研究意义</a:t>
            </a:r>
          </a:p>
          <a:p>
            <a:pPr>
              <a:spcBef>
                <a:spcPts val="1200"/>
              </a:spcBef>
              <a:defRPr sz="2000">
                <a:latin typeface="Microsoft YaHei"/>
              </a:defRPr>
            </a:pPr>
            <a:r>
              <a:t>1. 理论意义：丰富高压开关柜在线监测技术理论体系</a:t>
            </a:r>
          </a:p>
          <a:p>
            <a:pPr>
              <a:spcBef>
                <a:spcPts val="1200"/>
              </a:spcBef>
              <a:defRPr sz="2000">
                <a:latin typeface="Microsoft YaHei"/>
              </a:defRPr>
            </a:pPr>
            <a:r>
              <a:t>2. 实践意义：为一线维修人员提供作业指导</a:t>
            </a:r>
          </a:p>
          <a:p>
            <a:pPr>
              <a:spcBef>
                <a:spcPts val="1200"/>
              </a:spcBef>
              <a:defRPr sz="2000">
                <a:latin typeface="Microsoft YaHei"/>
              </a:defRPr>
            </a:pPr>
            <a:r>
              <a:t>3. 安全意义：提高故障发现率，降低设备故障率</a:t>
            </a:r>
          </a:p>
          <a:p>
            <a:pPr>
              <a:spcBef>
                <a:spcPts val="1200"/>
              </a:spcBef>
              <a:defRPr sz="2000">
                <a:latin typeface="Microsoft YaHei"/>
              </a:defRPr>
            </a:pPr>
            <a:r>
              <a:t>4. 经济意义：优化维护流程，降低维护成本</a:t>
            </a:r>
          </a:p>
          <a:p>
            <a:pPr>
              <a:spcBef>
                <a:spcPts val="1200"/>
              </a:spcBef>
              <a:defRPr sz="2000">
                <a:latin typeface="Microsoft YaHei"/>
              </a:defRPr>
            </a:pPr>
            <a:r>
              <a:t>研究目标</a:t>
            </a:r>
          </a:p>
          <a:p>
            <a:pPr>
              <a:spcBef>
                <a:spcPts val="1200"/>
              </a:spcBef>
              <a:defRPr sz="2000">
                <a:latin typeface="Microsoft YaHei"/>
              </a:defRPr>
            </a:pPr>
            <a:r>
              <a:t>- 掌握常见故障的现场表现与成因</a:t>
            </a:r>
          </a:p>
          <a:p>
            <a:pPr>
              <a:spcBef>
                <a:spcPts val="1200"/>
              </a:spcBef>
              <a:defRPr sz="2000">
                <a:latin typeface="Microsoft YaHei"/>
              </a:defRPr>
            </a:pPr>
            <a:r>
              <a:t>- 理解监测设备的工作原理及系统组网方式</a:t>
            </a:r>
          </a:p>
          <a:p>
            <a:pPr>
              <a:spcBef>
                <a:spcPts val="1200"/>
              </a:spcBef>
              <a:defRPr sz="2000">
                <a:latin typeface="Microsoft YaHei"/>
              </a:defRPr>
            </a:pPr>
            <a:r>
              <a:t>- 熟悉标准安装调试工艺</a:t>
            </a:r>
          </a:p>
          <a:p>
            <a:pPr>
              <a:spcBef>
                <a:spcPts val="1200"/>
              </a:spcBef>
              <a:defRPr sz="2000">
                <a:latin typeface="Microsoft YaHei"/>
              </a:defRPr>
            </a:pPr>
            <a:r>
              <a:t>- 掌握基于监测数据的日常巡检标准与故障处理规范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#5 研究方法与技术路线</a:t>
            </a:r>
          </a:p>
        </p:txBody>
      </p:sp>
      <p:sp>
        <p:nvSpPr>
          <p:cNvPr id="3" name="Content Placeholder 2"/>
          <p:cNvSpPr>
            <a:spLocks noGrp="1"/>
          </p:cNvSpPr>
          <p:nvPr>
            <p:ph idx="1"/>
          </p:nvPr>
        </p:nvSpPr>
        <p:spPr/>
        <p:txBody>
          <a:bodyPr/>
          <a:lstStyle/>
          <a:p>
            <a:pPr>
              <a:spcBef>
                <a:spcPts val="1200"/>
              </a:spcBef>
              <a:defRPr sz="2000">
                <a:latin typeface="Microsoft YaHei"/>
              </a:defRPr>
            </a:pPr>
            <a:r>
              <a:t>研究方法</a:t>
            </a:r>
          </a:p>
          <a:p>
            <a:pPr>
              <a:spcBef>
                <a:spcPts val="1200"/>
              </a:spcBef>
              <a:defRPr sz="2000">
                <a:latin typeface="Microsoft YaHei"/>
              </a:defRPr>
            </a:pPr>
            <a:r>
              <a:t>1. 文献调研法：收集国内外相关文献40余篇</a:t>
            </a:r>
          </a:p>
          <a:p>
            <a:pPr>
              <a:spcBef>
                <a:spcPts val="1200"/>
              </a:spcBef>
              <a:defRPr sz="2000">
                <a:latin typeface="Microsoft YaHei"/>
              </a:defRPr>
            </a:pPr>
            <a:r>
              <a:t>2. 案例分析法：选取典型故障案例进行深入分析</a:t>
            </a:r>
          </a:p>
          <a:p>
            <a:pPr>
              <a:spcBef>
                <a:spcPts val="1200"/>
              </a:spcBef>
              <a:defRPr sz="2000">
                <a:latin typeface="Microsoft YaHei"/>
              </a:defRPr>
            </a:pPr>
            <a:r>
              <a:t>3. 经验总结法：提炼标准化流程和方法</a:t>
            </a:r>
          </a:p>
          <a:p>
            <a:pPr>
              <a:spcBef>
                <a:spcPts val="1200"/>
              </a:spcBef>
              <a:defRPr sz="2000">
                <a:latin typeface="Microsoft YaHei"/>
              </a:defRPr>
            </a:pPr>
            <a:r>
              <a:t>4. 对比分析法：对比传统与智能化维护模式差异</a:t>
            </a:r>
          </a:p>
          <a:p>
            <a:pPr>
              <a:spcBef>
                <a:spcPts val="1200"/>
              </a:spcBef>
              <a:defRPr sz="2000">
                <a:latin typeface="Microsoft YaHei"/>
              </a:defRPr>
            </a:pPr>
            <a:r>
              <a:t>技术路线</a:t>
            </a:r>
          </a:p>
          <a:p>
            <a:pPr>
              <a:spcBef>
                <a:spcPts val="1200"/>
              </a:spcBef>
              <a:defRPr sz="2000">
                <a:latin typeface="Microsoft YaHei"/>
              </a:defRPr>
            </a:pPr>
            <a:r>
              <a:t>```</a:t>
            </a:r>
          </a:p>
          <a:p>
            <a:pPr>
              <a:spcBef>
                <a:spcPts val="1200"/>
              </a:spcBef>
              <a:defRPr sz="2000">
                <a:latin typeface="Microsoft YaHei"/>
              </a:defRPr>
            </a:pPr>
            <a:r>
              <a:t>文献调研 → 理论分析 → 系统设计 → 应用验证 → 效果评估</a:t>
            </a:r>
          </a:p>
          <a:p>
            <a:pPr>
              <a:spcBef>
                <a:spcPts val="1200"/>
              </a:spcBef>
              <a:defRPr sz="2000">
                <a:latin typeface="Microsoft YaHei"/>
              </a:defRPr>
            </a:pPr>
            <a: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#6 高压开关柜常见故障（一）</a:t>
            </a:r>
          </a:p>
        </p:txBody>
      </p:sp>
      <p:sp>
        <p:nvSpPr>
          <p:cNvPr id="3" name="Content Placeholder 2"/>
          <p:cNvSpPr>
            <a:spLocks noGrp="1"/>
          </p:cNvSpPr>
          <p:nvPr>
            <p:ph idx="1"/>
          </p:nvPr>
        </p:nvSpPr>
        <p:spPr/>
        <p:txBody>
          <a:bodyPr/>
          <a:lstStyle/>
          <a:p>
            <a:pPr>
              <a:spcBef>
                <a:spcPts val="1200"/>
              </a:spcBef>
              <a:defRPr sz="2000">
                <a:latin typeface="Microsoft YaHei"/>
              </a:defRPr>
            </a:pPr>
            <a:r>
              <a:t>导电回路过热故障（38%）</a:t>
            </a:r>
          </a:p>
          <a:p>
            <a:pPr>
              <a:spcBef>
                <a:spcPts val="1200"/>
              </a:spcBef>
              <a:defRPr sz="2000">
                <a:latin typeface="Microsoft YaHei"/>
              </a:defRPr>
            </a:pPr>
            <a:r>
              <a:t>- 故障部位：断路器梅花触头、母线搭接面、电缆接头</a:t>
            </a:r>
          </a:p>
          <a:p>
            <a:pPr>
              <a:spcBef>
                <a:spcPts val="1200"/>
              </a:spcBef>
              <a:defRPr sz="2000">
                <a:latin typeface="Microsoft YaHei"/>
              </a:defRPr>
            </a:pPr>
            <a:r>
              <a:t>- 现场表现：柜体表面局部温度升高，红外测温异常</a:t>
            </a:r>
          </a:p>
          <a:p>
            <a:pPr>
              <a:spcBef>
                <a:spcPts val="1200"/>
              </a:spcBef>
              <a:defRPr sz="2000">
                <a:latin typeface="Microsoft YaHei"/>
              </a:defRPr>
            </a:pPr>
            <a:r>
              <a:t>- 主要成因：安装螺栓松动、触头弹簧疲劳、长期过负荷</a:t>
            </a:r>
          </a:p>
          <a:p>
            <a:pPr>
              <a:spcBef>
                <a:spcPts val="1200"/>
              </a:spcBef>
              <a:defRPr sz="2000">
                <a:latin typeface="Microsoft YaHei"/>
              </a:defRPr>
            </a:pPr>
            <a:r>
              <a:t>绝缘故障（35%）</a:t>
            </a:r>
          </a:p>
          <a:p>
            <a:pPr>
              <a:spcBef>
                <a:spcPts val="1200"/>
              </a:spcBef>
              <a:defRPr sz="2000">
                <a:latin typeface="Microsoft YaHei"/>
              </a:defRPr>
            </a:pPr>
            <a:r>
              <a:t>- 故障部位：支持绝缘子、穿墙套管、电缆终端</a:t>
            </a:r>
          </a:p>
          <a:p>
            <a:pPr>
              <a:spcBef>
                <a:spcPts val="1200"/>
              </a:spcBef>
              <a:defRPr sz="2000">
                <a:latin typeface="Microsoft YaHei"/>
              </a:defRPr>
            </a:pPr>
            <a:r>
              <a:t>- 现场表现：放电声、臭氧味道、局放检测超标</a:t>
            </a:r>
          </a:p>
          <a:p>
            <a:pPr>
              <a:spcBef>
                <a:spcPts val="1200"/>
              </a:spcBef>
              <a:defRPr sz="2000">
                <a:latin typeface="Microsoft YaHei"/>
              </a:defRPr>
            </a:pPr>
            <a:r>
              <a:t>- 主要成因：表面积污、绝缘受潮、绝缘件老化</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#7 高压开关柜常见故障（二）</a:t>
            </a:r>
          </a:p>
        </p:txBody>
      </p:sp>
      <p:sp>
        <p:nvSpPr>
          <p:cNvPr id="3" name="Content Placeholder 2"/>
          <p:cNvSpPr>
            <a:spLocks noGrp="1"/>
          </p:cNvSpPr>
          <p:nvPr>
            <p:ph idx="1"/>
          </p:nvPr>
        </p:nvSpPr>
        <p:spPr/>
        <p:txBody>
          <a:bodyPr/>
          <a:lstStyle/>
          <a:p>
            <a:pPr>
              <a:spcBef>
                <a:spcPts val="1200"/>
              </a:spcBef>
              <a:defRPr sz="2000">
                <a:latin typeface="Microsoft YaHei"/>
              </a:defRPr>
            </a:pPr>
            <a:r>
              <a:t>机械故障（27%）</a:t>
            </a:r>
          </a:p>
          <a:p>
            <a:pPr>
              <a:spcBef>
                <a:spcPts val="1200"/>
              </a:spcBef>
              <a:defRPr sz="2000">
                <a:latin typeface="Microsoft YaHei"/>
              </a:defRPr>
            </a:pPr>
            <a:r>
              <a:t>- 故障部位：操动机构、储能电机、连杆</a:t>
            </a:r>
          </a:p>
          <a:p>
            <a:pPr>
              <a:spcBef>
                <a:spcPts val="1200"/>
              </a:spcBef>
              <a:defRPr sz="2000">
                <a:latin typeface="Microsoft YaHei"/>
              </a:defRPr>
            </a:pPr>
            <a:r>
              <a:t>- 现场表现：分合闸拒动、储能不到位、指示不符</a:t>
            </a:r>
          </a:p>
          <a:p>
            <a:pPr>
              <a:spcBef>
                <a:spcPts val="1200"/>
              </a:spcBef>
              <a:defRPr sz="2000">
                <a:latin typeface="Microsoft YaHei"/>
              </a:defRPr>
            </a:pPr>
            <a:r>
              <a:t>- 主要成因：润滑脂干涸、销轴脱落、辅助开关接触不良</a:t>
            </a:r>
          </a:p>
          <a:p>
            <a:pPr>
              <a:spcBef>
                <a:spcPts val="1200"/>
              </a:spcBef>
              <a:defRPr sz="2000">
                <a:latin typeface="Microsoft YaHei"/>
              </a:defRPr>
            </a:pPr>
            <a:r>
              <a:t>监测需求</a:t>
            </a:r>
          </a:p>
          <a:p>
            <a:pPr>
              <a:spcBef>
                <a:spcPts val="1200"/>
              </a:spcBef>
              <a:defRPr sz="2000">
                <a:latin typeface="Microsoft YaHei"/>
              </a:defRPr>
            </a:pPr>
            <a:r>
              <a:t>| 故障类型 | 监测参数 | 监测技术 |</a:t>
            </a:r>
          </a:p>
          <a:p>
            <a:pPr>
              <a:spcBef>
                <a:spcPts val="1200"/>
              </a:spcBef>
              <a:defRPr sz="1800">
                <a:latin typeface="Microsoft YaHei"/>
              </a:defRPr>
            </a:pPr>
            <a:r>
              <a:t>|---------|---------|---------|</a:t>
            </a:r>
          </a:p>
          <a:p>
            <a:pPr>
              <a:spcBef>
                <a:spcPts val="1200"/>
              </a:spcBef>
              <a:defRPr sz="1800">
                <a:latin typeface="Microsoft YaHei"/>
              </a:defRPr>
            </a:pPr>
            <a:r>
              <a:t>| 过热故障 | 温度 | 无线测温、光纤测温 |</a:t>
            </a:r>
          </a:p>
          <a:p>
            <a:pPr>
              <a:spcBef>
                <a:spcPts val="1200"/>
              </a:spcBef>
              <a:defRPr sz="1800">
                <a:latin typeface="Microsoft YaHei"/>
              </a:defRPr>
            </a:pPr>
            <a:r>
              <a:t>| 绝缘故障 | 局部放电 | TEV、超声波、特高频 |</a:t>
            </a:r>
          </a:p>
          <a:p>
            <a:pPr>
              <a:spcBef>
                <a:spcPts val="1200"/>
              </a:spcBef>
              <a:defRPr sz="1800">
                <a:latin typeface="Microsoft YaHei"/>
              </a:defRPr>
            </a:pPr>
            <a:r>
              <a:t>| 机械故障 | 行程、速度 | 霍尔传感器、角度传感器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#8 温度监测技术</a:t>
            </a:r>
          </a:p>
        </p:txBody>
      </p:sp>
      <p:sp>
        <p:nvSpPr>
          <p:cNvPr id="3" name="Content Placeholder 2"/>
          <p:cNvSpPr>
            <a:spLocks noGrp="1"/>
          </p:cNvSpPr>
          <p:nvPr>
            <p:ph idx="1"/>
          </p:nvPr>
        </p:nvSpPr>
        <p:spPr/>
        <p:txBody>
          <a:bodyPr/>
          <a:lstStyle/>
          <a:p>
            <a:pPr>
              <a:spcBef>
                <a:spcPts val="1200"/>
              </a:spcBef>
              <a:defRPr sz="2000">
                <a:latin typeface="Microsoft YaHei"/>
              </a:defRPr>
            </a:pPr>
            <a:r>
              <a:t>无线测温技术</a:t>
            </a:r>
          </a:p>
          <a:p>
            <a:pPr>
              <a:spcBef>
                <a:spcPts val="1200"/>
              </a:spcBef>
              <a:defRPr sz="2000">
                <a:latin typeface="Microsoft YaHei"/>
              </a:defRPr>
            </a:pPr>
            <a:r>
              <a:t>- 测量范围：-25℃~125℃，测量精度：±1℃</a:t>
            </a:r>
          </a:p>
          <a:p>
            <a:pPr>
              <a:spcBef>
                <a:spcPts val="1200"/>
              </a:spcBef>
              <a:defRPr sz="2000">
                <a:latin typeface="Microsoft YaHei"/>
              </a:defRPr>
            </a:pPr>
            <a:r>
              <a:t>- 采样周期：1秒~10分钟可调，电池寿命：3-5年</a:t>
            </a:r>
          </a:p>
          <a:p>
            <a:pPr>
              <a:spcBef>
                <a:spcPts val="1200"/>
              </a:spcBef>
              <a:defRPr sz="2000">
                <a:latin typeface="Microsoft YaHei"/>
              </a:defRPr>
            </a:pPr>
            <a:r>
              <a:t>- 优点：安装方便、维护工作量小</a:t>
            </a:r>
          </a:p>
          <a:p>
            <a:pPr>
              <a:spcBef>
                <a:spcPts val="1200"/>
              </a:spcBef>
              <a:defRPr sz="2000">
                <a:latin typeface="Microsoft YaHei"/>
              </a:defRPr>
            </a:pPr>
            <a:r>
              <a:t>荧光光纤测温技术</a:t>
            </a:r>
          </a:p>
          <a:p>
            <a:pPr>
              <a:spcBef>
                <a:spcPts val="1200"/>
              </a:spcBef>
              <a:defRPr sz="2000">
                <a:latin typeface="Microsoft YaHei"/>
              </a:defRPr>
            </a:pPr>
            <a:r>
              <a:t>- 测量范围：-40℃~200℃，测量精度：±0.5℃</a:t>
            </a:r>
          </a:p>
          <a:p>
            <a:pPr>
              <a:spcBef>
                <a:spcPts val="1200"/>
              </a:spcBef>
              <a:defRPr sz="2000">
                <a:latin typeface="Microsoft YaHei"/>
              </a:defRPr>
            </a:pPr>
            <a:r>
              <a:t>- 响应时间：&lt;1秒，优点：本质安全、抗电磁干扰</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#9 局部放电监测技术</a:t>
            </a:r>
          </a:p>
        </p:txBody>
      </p:sp>
      <p:sp>
        <p:nvSpPr>
          <p:cNvPr id="3" name="Content Placeholder 2"/>
          <p:cNvSpPr>
            <a:spLocks noGrp="1"/>
          </p:cNvSpPr>
          <p:nvPr>
            <p:ph idx="1"/>
          </p:nvPr>
        </p:nvSpPr>
        <p:spPr/>
        <p:txBody>
          <a:bodyPr/>
          <a:lstStyle/>
          <a:p>
            <a:pPr>
              <a:spcBef>
                <a:spcPts val="1200"/>
              </a:spcBef>
              <a:defRPr sz="2000">
                <a:latin typeface="Microsoft YaHei"/>
              </a:defRPr>
            </a:pPr>
            <a:r>
              <a:t>TEV暂态地电压检测</a:t>
            </a:r>
          </a:p>
          <a:p>
            <a:pPr>
              <a:spcBef>
                <a:spcPts val="1200"/>
              </a:spcBef>
              <a:defRPr sz="2000">
                <a:latin typeface="Microsoft YaHei"/>
              </a:defRPr>
            </a:pPr>
            <a:r>
              <a:t>- 检测频率：3~100MHz，测量范围：0~60dB</a:t>
            </a:r>
          </a:p>
          <a:p>
            <a:pPr>
              <a:spcBef>
                <a:spcPts val="1200"/>
              </a:spcBef>
              <a:defRPr sz="2000">
                <a:latin typeface="Microsoft YaHei"/>
              </a:defRPr>
            </a:pPr>
            <a:r>
              <a:t>- 灵敏度：优于15dB背景噪声抑制</a:t>
            </a:r>
          </a:p>
          <a:p>
            <a:pPr>
              <a:spcBef>
                <a:spcPts val="1200"/>
              </a:spcBef>
              <a:defRPr sz="2000">
                <a:latin typeface="Microsoft YaHei"/>
              </a:defRPr>
            </a:pPr>
            <a:r>
              <a:t>- 特点：灵敏度高、安装简便、成本较低</a:t>
            </a:r>
          </a:p>
          <a:p>
            <a:pPr>
              <a:spcBef>
                <a:spcPts val="1200"/>
              </a:spcBef>
              <a:defRPr sz="2000">
                <a:latin typeface="Microsoft YaHei"/>
              </a:defRPr>
            </a:pPr>
            <a:r>
              <a:t>超声波检测</a:t>
            </a:r>
          </a:p>
          <a:p>
            <a:pPr>
              <a:spcBef>
                <a:spcPts val="1200"/>
              </a:spcBef>
              <a:defRPr sz="2000">
                <a:latin typeface="Microsoft YaHei"/>
              </a:defRPr>
            </a:pPr>
            <a:r>
              <a:t>- 检测频率：20~200kHz，定位精度：±5cm</a:t>
            </a:r>
          </a:p>
          <a:p>
            <a:pPr>
              <a:spcBef>
                <a:spcPts val="1200"/>
              </a:spcBef>
              <a:defRPr sz="2000">
                <a:latin typeface="Microsoft YaHei"/>
              </a:defRPr>
            </a:pPr>
            <a:r>
              <a:t>- 特点：对悬浮放电和尖端放电敏感</a:t>
            </a:r>
          </a:p>
          <a:p>
            <a:pPr>
              <a:spcBef>
                <a:spcPts val="1200"/>
              </a:spcBef>
              <a:defRPr sz="2000">
                <a:latin typeface="Microsoft YaHei"/>
              </a:defRPr>
            </a:pPr>
            <a:r>
              <a:t>特高频UHF检测</a:t>
            </a:r>
          </a:p>
          <a:p>
            <a:pPr>
              <a:spcBef>
                <a:spcPts val="1200"/>
              </a:spcBef>
              <a:defRPr sz="2000">
                <a:latin typeface="Microsoft YaHei"/>
              </a:defRPr>
            </a:pPr>
            <a:r>
              <a:t>- 检测频率：300MHz~3GHz</a:t>
            </a:r>
          </a:p>
          <a:p>
            <a:pPr>
              <a:spcBef>
                <a:spcPts val="1200"/>
              </a:spcBef>
              <a:defRPr sz="2000">
                <a:latin typeface="Microsoft YaHei"/>
              </a:defRPr>
            </a:pPr>
            <a:r>
              <a:t>- 特点：抗干扰能力强、检测灵敏度高</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#10 监测系统架构</a:t>
            </a:r>
          </a:p>
        </p:txBody>
      </p:sp>
      <p:sp>
        <p:nvSpPr>
          <p:cNvPr id="3" name="Content Placeholder 2"/>
          <p:cNvSpPr>
            <a:spLocks noGrp="1"/>
          </p:cNvSpPr>
          <p:nvPr>
            <p:ph idx="1"/>
          </p:nvPr>
        </p:nvSpPr>
        <p:spPr/>
        <p:txBody>
          <a:bodyPr/>
          <a:lstStyle/>
          <a:p>
            <a:pPr>
              <a:spcBef>
                <a:spcPts val="1200"/>
              </a:spcBef>
              <a:defRPr sz="2000">
                <a:latin typeface="Microsoft YaHei"/>
              </a:defRPr>
            </a:pPr>
            <a:r>
              <a:t>分层结构设计</a:t>
            </a:r>
          </a:p>
          <a:p>
            <a:pPr>
              <a:spcBef>
                <a:spcPts val="1200"/>
              </a:spcBef>
              <a:defRPr sz="2000">
                <a:latin typeface="Microsoft YaHei"/>
              </a:defRPr>
            </a:pPr>
            <a:r>
              <a:t>1. 传感器层：温度传感器、局放传感器、机械特性传感器</a:t>
            </a:r>
          </a:p>
          <a:p>
            <a:pPr>
              <a:spcBef>
                <a:spcPts val="1200"/>
              </a:spcBef>
              <a:defRPr sz="2000">
                <a:latin typeface="Microsoft YaHei"/>
              </a:defRPr>
            </a:pPr>
            <a:r>
              <a:t>2. 采集层：就地采集单元IED，汇集本柜数据</a:t>
            </a:r>
          </a:p>
          <a:p>
            <a:pPr>
              <a:spcBef>
                <a:spcPts val="1200"/>
              </a:spcBef>
              <a:defRPr sz="2000">
                <a:latin typeface="Microsoft YaHei"/>
              </a:defRPr>
            </a:pPr>
            <a:r>
              <a:t>3. 传输层：RS485总线或光纤以太网</a:t>
            </a:r>
          </a:p>
          <a:p>
            <a:pPr>
              <a:spcBef>
                <a:spcPts val="1200"/>
              </a:spcBef>
              <a:defRPr sz="2000">
                <a:latin typeface="Microsoft YaHei"/>
              </a:defRPr>
            </a:pPr>
            <a:r>
              <a:t>4. 监控层：变电所通信管理机 + 后台监控主机</a:t>
            </a:r>
          </a:p>
          <a:p>
            <a:pPr>
              <a:spcBef>
                <a:spcPts val="1200"/>
              </a:spcBef>
              <a:defRPr sz="2000">
                <a:latin typeface="Microsoft YaHei"/>
              </a:defRPr>
            </a:pPr>
            <a:r>
              <a:t>安装要点</a:t>
            </a:r>
          </a:p>
          <a:p>
            <a:pPr>
              <a:spcBef>
                <a:spcPts val="1200"/>
              </a:spcBef>
              <a:defRPr sz="2000">
                <a:latin typeface="Microsoft YaHei"/>
              </a:defRPr>
            </a:pPr>
            <a:r>
              <a:t>- 传感器紧贴导体表面，涂抹导热硅脂</a:t>
            </a:r>
          </a:p>
          <a:p>
            <a:pPr>
              <a:spcBef>
                <a:spcPts val="1200"/>
              </a:spcBef>
              <a:defRPr sz="2000">
                <a:latin typeface="Microsoft YaHei"/>
              </a:defRPr>
            </a:pPr>
            <a:r>
              <a:t>- RS485通讯线使用屏蔽双绞线，屏蔽层单端接地</a:t>
            </a:r>
          </a:p>
          <a:p>
            <a:pPr>
              <a:spcBef>
                <a:spcPts val="1200"/>
              </a:spcBef>
              <a:defRPr sz="2000">
                <a:latin typeface="Microsoft YaHei"/>
              </a:defRPr>
            </a:pPr>
            <a:r>
              <a:t>- 通讯线管避开一次强电电缆</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#11 维护策略</a:t>
            </a:r>
          </a:p>
        </p:txBody>
      </p:sp>
      <p:sp>
        <p:nvSpPr>
          <p:cNvPr id="3" name="Content Placeholder 2"/>
          <p:cNvSpPr>
            <a:spLocks noGrp="1"/>
          </p:cNvSpPr>
          <p:nvPr>
            <p:ph idx="1"/>
          </p:nvPr>
        </p:nvSpPr>
        <p:spPr/>
        <p:txBody>
          <a:bodyPr/>
          <a:lstStyle/>
          <a:p>
            <a:pPr>
              <a:spcBef>
                <a:spcPts val="1200"/>
              </a:spcBef>
              <a:defRPr sz="2000">
                <a:latin typeface="Microsoft YaHei"/>
              </a:defRPr>
            </a:pPr>
            <a:r>
              <a:t>"日常监测为主，定期检修辅助"新模式</a:t>
            </a:r>
          </a:p>
          <a:p>
            <a:pPr>
              <a:spcBef>
                <a:spcPts val="1200"/>
              </a:spcBef>
              <a:defRPr sz="2000">
                <a:latin typeface="Microsoft YaHei"/>
              </a:defRPr>
            </a:pPr>
            <a:r>
              <a:t>日常巡检（每日）</a:t>
            </a:r>
          </a:p>
          <a:p>
            <a:pPr>
              <a:spcBef>
                <a:spcPts val="1200"/>
              </a:spcBef>
              <a:defRPr sz="2000">
                <a:latin typeface="Microsoft YaHei"/>
              </a:defRPr>
            </a:pPr>
            <a:r>
              <a:t>- 远程巡视：查看后台温度数据、局放幅值</a:t>
            </a:r>
          </a:p>
          <a:p>
            <a:pPr>
              <a:spcBef>
                <a:spcPts val="1200"/>
              </a:spcBef>
              <a:defRPr sz="2000">
                <a:latin typeface="Microsoft YaHei"/>
              </a:defRPr>
            </a:pPr>
            <a:r>
              <a:t>- 现场巡视：观察装置显示屏状态、电源指示灯</a:t>
            </a:r>
          </a:p>
          <a:p>
            <a:pPr>
              <a:spcBef>
                <a:spcPts val="1200"/>
              </a:spcBef>
              <a:defRPr sz="2000">
                <a:latin typeface="Microsoft YaHei"/>
              </a:defRPr>
            </a:pPr>
            <a:r>
              <a:t>定期维护（每月/季度）</a:t>
            </a:r>
          </a:p>
          <a:p>
            <a:pPr>
              <a:spcBef>
                <a:spcPts val="1200"/>
              </a:spcBef>
              <a:defRPr sz="2000">
                <a:latin typeface="Microsoft YaHei"/>
              </a:defRPr>
            </a:pPr>
            <a:r>
              <a:t>- 装置清洁：干布擦拭显示单元</a:t>
            </a:r>
          </a:p>
          <a:p>
            <a:pPr>
              <a:spcBef>
                <a:spcPts val="1200"/>
              </a:spcBef>
              <a:defRPr sz="2000">
                <a:latin typeface="Microsoft YaHei"/>
              </a:defRPr>
            </a:pPr>
            <a:r>
              <a:t>- 数据分析：调取温度趋势曲线，关注异常点</a:t>
            </a:r>
          </a:p>
          <a:p>
            <a:pPr>
              <a:spcBef>
                <a:spcPts val="1200"/>
              </a:spcBef>
              <a:defRPr sz="2000">
                <a:latin typeface="Microsoft YaHei"/>
              </a:defRPr>
            </a:pPr>
            <a:r>
              <a:t>标准化维护流程</a:t>
            </a:r>
          </a:p>
          <a:p>
            <a:pPr>
              <a:spcBef>
                <a:spcPts val="1200"/>
              </a:spcBef>
              <a:defRPr sz="2000">
                <a:latin typeface="Microsoft YaHei"/>
              </a:defRPr>
            </a:pPr>
            <a:r>
              <a:t>1. 缺陷发现 → 2. 初步研判 → 3. 停电检修 → 4. 消缺处理 → 5. 恢复送电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#12 案例分析（一）触头过热故障</a:t>
            </a:r>
          </a:p>
        </p:txBody>
      </p:sp>
      <p:sp>
        <p:nvSpPr>
          <p:cNvPr id="3" name="Content Placeholder 2"/>
          <p:cNvSpPr>
            <a:spLocks noGrp="1"/>
          </p:cNvSpPr>
          <p:nvPr>
            <p:ph idx="1"/>
          </p:nvPr>
        </p:nvSpPr>
        <p:spPr/>
        <p:txBody>
          <a:bodyPr/>
          <a:lstStyle/>
          <a:p>
            <a:pPr>
              <a:spcBef>
                <a:spcPts val="1200"/>
              </a:spcBef>
              <a:defRPr sz="2000">
                <a:latin typeface="Microsoft YaHei"/>
              </a:defRPr>
            </a:pPr>
            <a:r>
              <a:t>故障背景</a:t>
            </a:r>
          </a:p>
          <a:p>
            <a:pPr>
              <a:spcBef>
                <a:spcPts val="1200"/>
              </a:spcBef>
              <a:defRPr sz="2000">
                <a:latin typeface="Microsoft YaHei"/>
              </a:defRPr>
            </a:pPr>
            <a:r>
              <a:t>2024年6月，某变电所201开关柜在线监测系统发出"高温告警"</a:t>
            </a:r>
          </a:p>
          <a:p>
            <a:pPr>
              <a:spcBef>
                <a:spcPts val="1200"/>
              </a:spcBef>
              <a:defRPr sz="2000">
                <a:latin typeface="Microsoft YaHei"/>
              </a:defRPr>
            </a:pPr>
            <a:r>
              <a:t>- A相下触头温度：85℃（B/C相：33/32℃）</a:t>
            </a:r>
          </a:p>
          <a:p>
            <a:pPr>
              <a:spcBef>
                <a:spcPts val="1200"/>
              </a:spcBef>
              <a:defRPr sz="2000">
                <a:latin typeface="Microsoft YaHei"/>
              </a:defRPr>
            </a:pPr>
            <a:r>
              <a:t>- 负荷电流：450A，环境温度：25℃</a:t>
            </a:r>
          </a:p>
          <a:p>
            <a:pPr>
              <a:spcBef>
                <a:spcPts val="1200"/>
              </a:spcBef>
              <a:defRPr sz="2000">
                <a:latin typeface="Microsoft YaHei"/>
              </a:defRPr>
            </a:pPr>
            <a:r>
              <a:t>故障排查</a:t>
            </a:r>
          </a:p>
          <a:p>
            <a:pPr>
              <a:spcBef>
                <a:spcPts val="1200"/>
              </a:spcBef>
              <a:defRPr sz="2000">
                <a:latin typeface="Microsoft YaHei"/>
              </a:defRPr>
            </a:pPr>
            <a:r>
              <a:t>1. 调取近一周温度数据，发现A相温度异常波动</a:t>
            </a:r>
          </a:p>
          <a:p>
            <a:pPr>
              <a:spcBef>
                <a:spcPts val="1200"/>
              </a:spcBef>
              <a:defRPr sz="2000">
                <a:latin typeface="Microsoft YaHei"/>
              </a:defRPr>
            </a:pPr>
            <a:r>
              <a:t>2. 红外测温复测，实测82℃，验证监测数据</a:t>
            </a:r>
          </a:p>
          <a:p>
            <a:pPr>
              <a:spcBef>
                <a:spcPts val="1200"/>
              </a:spcBef>
              <a:defRPr sz="2000">
                <a:latin typeface="Microsoft YaHei"/>
              </a:defRPr>
            </a:pPr>
            <a:r>
              <a:t>3. 停电检查：梅花触头弹簧退火变软，触头表面氧化发黑</a:t>
            </a:r>
          </a:p>
          <a:p>
            <a:pPr>
              <a:spcBef>
                <a:spcPts val="1200"/>
              </a:spcBef>
              <a:defRPr sz="2000">
                <a:latin typeface="Microsoft YaHei"/>
              </a:defRPr>
            </a:pPr>
            <a:r>
              <a:t>4. 回路电阻测试：150μΩ（标准：≤30μΩ）</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#13 案例分析（一）故障处理</a:t>
            </a:r>
          </a:p>
        </p:txBody>
      </p:sp>
      <p:sp>
        <p:nvSpPr>
          <p:cNvPr id="3" name="Content Placeholder 2"/>
          <p:cNvSpPr>
            <a:spLocks noGrp="1"/>
          </p:cNvSpPr>
          <p:nvPr>
            <p:ph idx="1"/>
          </p:nvPr>
        </p:nvSpPr>
        <p:spPr/>
        <p:txBody>
          <a:bodyPr/>
          <a:lstStyle/>
          <a:p>
            <a:pPr>
              <a:spcBef>
                <a:spcPts val="1200"/>
              </a:spcBef>
              <a:defRPr sz="2000">
                <a:latin typeface="Microsoft YaHei"/>
              </a:defRPr>
            </a:pPr>
            <a:r>
              <a:t>处理措施</a:t>
            </a:r>
          </a:p>
          <a:p>
            <a:pPr>
              <a:spcBef>
                <a:spcPts val="1200"/>
              </a:spcBef>
              <a:defRPr sz="2000">
                <a:latin typeface="Microsoft YaHei"/>
              </a:defRPr>
            </a:pPr>
            <a:r>
              <a:t>1. 更换新的梅花触头组件</a:t>
            </a:r>
          </a:p>
          <a:p>
            <a:pPr>
              <a:spcBef>
                <a:spcPts val="1200"/>
              </a:spcBef>
              <a:defRPr sz="2000">
                <a:latin typeface="Microsoft YaHei"/>
              </a:defRPr>
            </a:pPr>
            <a:r>
              <a:t>2. 使用0号砂纸打磨静触头表面</a:t>
            </a:r>
          </a:p>
          <a:p>
            <a:pPr>
              <a:spcBef>
                <a:spcPts val="1200"/>
              </a:spcBef>
              <a:defRPr sz="2000">
                <a:latin typeface="Microsoft YaHei"/>
              </a:defRPr>
            </a:pPr>
            <a:r>
              <a:t>3. 涂抹导电膏降低接触电阻</a:t>
            </a:r>
          </a:p>
          <a:p>
            <a:pPr>
              <a:spcBef>
                <a:spcPts val="1200"/>
              </a:spcBef>
              <a:defRPr sz="2000">
                <a:latin typeface="Microsoft YaHei"/>
              </a:defRPr>
            </a:pPr>
            <a:r>
              <a:t>4. 力矩扳手紧固连接螺栓</a:t>
            </a:r>
          </a:p>
          <a:p>
            <a:pPr>
              <a:spcBef>
                <a:spcPts val="1200"/>
              </a:spcBef>
              <a:defRPr sz="2000">
                <a:latin typeface="Microsoft YaHei"/>
              </a:defRPr>
            </a:pPr>
            <a:r>
              <a:t>处理效果</a:t>
            </a:r>
          </a:p>
          <a:p>
            <a:pPr>
              <a:spcBef>
                <a:spcPts val="1200"/>
              </a:spcBef>
              <a:defRPr sz="2000">
                <a:latin typeface="Microsoft YaHei"/>
              </a:defRPr>
            </a:pPr>
            <a:r>
              <a:t>- 回路电阻：150μΩ → 35μΩ（符合标准）</a:t>
            </a:r>
          </a:p>
          <a:p>
            <a:pPr>
              <a:spcBef>
                <a:spcPts val="1200"/>
              </a:spcBef>
              <a:defRPr sz="2000">
                <a:latin typeface="Microsoft YaHei"/>
              </a:defRPr>
            </a:pPr>
            <a:r>
              <a:t>- 送电后A相温度：33℃（温升仅7K）</a:t>
            </a:r>
          </a:p>
          <a:p>
            <a:pPr>
              <a:spcBef>
                <a:spcPts val="1200"/>
              </a:spcBef>
              <a:defRPr sz="2000">
                <a:latin typeface="Microsoft YaHei"/>
              </a:defRPr>
            </a:pPr>
            <a:r>
              <a:t>- 跟踪监测1个月，未再出现异常</a:t>
            </a:r>
          </a:p>
          <a:p>
            <a:pPr>
              <a:spcBef>
                <a:spcPts val="1200"/>
              </a:spcBef>
              <a:defRPr sz="2000">
                <a:latin typeface="Microsoft YaHei"/>
              </a:defRPr>
            </a:pPr>
            <a:r>
              <a:t>- 对比传统模式：发现时间从3天缩短至23分钟</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#14 案例分析（二）局部放电故障</a:t>
            </a:r>
          </a:p>
        </p:txBody>
      </p:sp>
      <p:sp>
        <p:nvSpPr>
          <p:cNvPr id="3" name="Content Placeholder 2"/>
          <p:cNvSpPr>
            <a:spLocks noGrp="1"/>
          </p:cNvSpPr>
          <p:nvPr>
            <p:ph idx="1"/>
          </p:nvPr>
        </p:nvSpPr>
        <p:spPr/>
        <p:txBody>
          <a:bodyPr/>
          <a:lstStyle/>
          <a:p>
            <a:pPr>
              <a:spcBef>
                <a:spcPts val="1200"/>
              </a:spcBef>
              <a:defRPr sz="2000">
                <a:latin typeface="Microsoft YaHei"/>
              </a:defRPr>
            </a:pPr>
            <a:r>
              <a:t>故障背景</a:t>
            </a:r>
          </a:p>
          <a:p>
            <a:pPr>
              <a:spcBef>
                <a:spcPts val="1200"/>
              </a:spcBef>
              <a:defRPr sz="2000">
                <a:latin typeface="Microsoft YaHei"/>
              </a:defRPr>
            </a:pPr>
            <a:r>
              <a:t>2024年8月，某变电所103开关柜局放监测装置发出"黄色预警"</a:t>
            </a:r>
          </a:p>
          <a:p>
            <a:pPr>
              <a:spcBef>
                <a:spcPts val="1200"/>
              </a:spcBef>
              <a:defRPr sz="2000">
                <a:latin typeface="Microsoft YaHei"/>
              </a:defRPr>
            </a:pPr>
            <a:r>
              <a:t>- TEV检测幅值：35dB，放电信号频段：150~200kHz</a:t>
            </a:r>
          </a:p>
          <a:p>
            <a:pPr>
              <a:spcBef>
                <a:spcPts val="1200"/>
              </a:spcBef>
              <a:defRPr sz="2000">
                <a:latin typeface="Microsoft YaHei"/>
              </a:defRPr>
            </a:pPr>
            <a:r>
              <a:t>- 放电特征：典型沿面放电</a:t>
            </a:r>
          </a:p>
          <a:p>
            <a:pPr>
              <a:spcBef>
                <a:spcPts val="1200"/>
              </a:spcBef>
              <a:defRPr sz="2000">
                <a:latin typeface="Microsoft YaHei"/>
              </a:defRPr>
            </a:pPr>
            <a:r>
              <a:t>故障排查</a:t>
            </a:r>
          </a:p>
          <a:p>
            <a:pPr>
              <a:spcBef>
                <a:spcPts val="1200"/>
              </a:spcBef>
              <a:defRPr sz="2000">
                <a:latin typeface="Microsoft YaHei"/>
              </a:defRPr>
            </a:pPr>
            <a:r>
              <a:t>1. TEV探头复测，测得38dB</a:t>
            </a:r>
          </a:p>
          <a:p>
            <a:pPr>
              <a:spcBef>
                <a:spcPts val="1200"/>
              </a:spcBef>
              <a:defRPr sz="2000">
                <a:latin typeface="Microsoft YaHei"/>
              </a:defRPr>
            </a:pPr>
            <a:r>
              <a:t>2. 超声波检测，听到"啪啪"放电声</a:t>
            </a:r>
          </a:p>
          <a:p>
            <a:pPr>
              <a:spcBef>
                <a:spcPts val="1200"/>
              </a:spcBef>
              <a:defRPr sz="2000">
                <a:latin typeface="Microsoft YaHei"/>
              </a:defRPr>
            </a:pPr>
            <a:r>
              <a:t>3. 停电检查：B相电缆终端应力锥爬电碳化</a:t>
            </a:r>
          </a:p>
          <a:p>
            <a:pPr>
              <a:spcBef>
                <a:spcPts val="1200"/>
              </a:spcBef>
              <a:defRPr sz="2000">
                <a:latin typeface="Microsoft YaHei"/>
              </a:defRPr>
            </a:pPr>
            <a:r>
              <a:t>故障原因</a:t>
            </a:r>
          </a:p>
          <a:p>
            <a:pPr>
              <a:spcBef>
                <a:spcPts val="1200"/>
              </a:spcBef>
              <a:defRPr sz="2000">
                <a:latin typeface="Microsoft YaHei"/>
              </a:defRPr>
            </a:pPr>
            <a:r>
              <a:t>电缆终端制作工艺缺陷，应力锥包裹不严，导致绝缘受潮劣化</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#15 案例分析（二）故障处理</a:t>
            </a:r>
          </a:p>
        </p:txBody>
      </p:sp>
      <p:sp>
        <p:nvSpPr>
          <p:cNvPr id="3" name="Content Placeholder 2"/>
          <p:cNvSpPr>
            <a:spLocks noGrp="1"/>
          </p:cNvSpPr>
          <p:nvPr>
            <p:ph idx="1"/>
          </p:nvPr>
        </p:nvSpPr>
        <p:spPr/>
        <p:txBody>
          <a:bodyPr/>
          <a:lstStyle/>
          <a:p>
            <a:pPr>
              <a:spcBef>
                <a:spcPts val="1200"/>
              </a:spcBef>
              <a:defRPr sz="2000">
                <a:latin typeface="Microsoft YaHei"/>
              </a:defRPr>
            </a:pPr>
            <a:r>
              <a:t>处理措施</a:t>
            </a:r>
          </a:p>
          <a:p>
            <a:pPr>
              <a:spcBef>
                <a:spcPts val="1200"/>
              </a:spcBef>
              <a:defRPr sz="2000">
                <a:latin typeface="Microsoft YaHei"/>
              </a:defRPr>
            </a:pPr>
            <a:r>
              <a:t>1. 切除受损电缆段约0.5米</a:t>
            </a:r>
          </a:p>
          <a:p>
            <a:pPr>
              <a:spcBef>
                <a:spcPts val="1200"/>
              </a:spcBef>
              <a:defRPr sz="2000">
                <a:latin typeface="Microsoft YaHei"/>
              </a:defRPr>
            </a:pPr>
            <a:r>
              <a:t>2. 重新制作电缆终端头</a:t>
            </a:r>
          </a:p>
          <a:p>
            <a:pPr>
              <a:spcBef>
                <a:spcPts val="1200"/>
              </a:spcBef>
              <a:defRPr sz="2000">
                <a:latin typeface="Microsoft YaHei"/>
              </a:defRPr>
            </a:pPr>
            <a:r>
              <a:t>3. 干燥压缩空气吹扫电缆室</a:t>
            </a:r>
          </a:p>
          <a:p>
            <a:pPr>
              <a:spcBef>
                <a:spcPts val="1200"/>
              </a:spcBef>
              <a:defRPr sz="2000">
                <a:latin typeface="Microsoft YaHei"/>
              </a:defRPr>
            </a:pPr>
            <a:r>
              <a:t>4. 耐压试验：52kV/1分钟，无放电现象</a:t>
            </a:r>
          </a:p>
          <a:p>
            <a:pPr>
              <a:spcBef>
                <a:spcPts val="1200"/>
              </a:spcBef>
              <a:defRPr sz="2000">
                <a:latin typeface="Microsoft YaHei"/>
              </a:defRPr>
            </a:pPr>
            <a:r>
              <a:t>处理效果</a:t>
            </a:r>
          </a:p>
          <a:p>
            <a:pPr>
              <a:spcBef>
                <a:spcPts val="1200"/>
              </a:spcBef>
              <a:defRPr sz="2000">
                <a:latin typeface="Microsoft YaHei"/>
              </a:defRPr>
            </a:pPr>
            <a:r>
              <a:t>- 局放监测数值：35dB → 5dB（接近背景噪声）</a:t>
            </a:r>
          </a:p>
          <a:p>
            <a:pPr>
              <a:spcBef>
                <a:spcPts val="1200"/>
              </a:spcBef>
              <a:defRPr sz="2000">
                <a:latin typeface="Microsoft YaHei"/>
              </a:defRPr>
            </a:pPr>
            <a:r>
              <a:t>- 跟踪监测2个月，数值保持在10dB以下</a:t>
            </a:r>
          </a:p>
          <a:p>
            <a:pPr>
              <a:spcBef>
                <a:spcPts val="1200"/>
              </a:spcBef>
              <a:defRPr sz="2000">
                <a:latin typeface="Microsoft YaHei"/>
              </a:defRPr>
            </a:pPr>
            <a:r>
              <a:t>- 效益估算：避免约50万元设备损失和运营中断损失</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#16 应急处置预案</a:t>
            </a:r>
          </a:p>
        </p:txBody>
      </p:sp>
      <p:sp>
        <p:nvSpPr>
          <p:cNvPr id="3" name="Content Placeholder 2"/>
          <p:cNvSpPr>
            <a:spLocks noGrp="1"/>
          </p:cNvSpPr>
          <p:nvPr>
            <p:ph idx="1"/>
          </p:nvPr>
        </p:nvSpPr>
        <p:spPr/>
        <p:txBody>
          <a:bodyPr>
            <a:normAutofit fontScale="92500" lnSpcReduction="20000"/>
          </a:bodyPr>
          <a:lstStyle/>
          <a:p>
            <a:pPr>
              <a:spcBef>
                <a:spcPts val="1200"/>
              </a:spcBef>
              <a:defRPr sz="2000">
                <a:latin typeface="Microsoft YaHei"/>
              </a:defRPr>
            </a:pPr>
            <a:r>
              <a:t>告警分级</a:t>
            </a:r>
          </a:p>
          <a:p>
            <a:pPr>
              <a:spcBef>
                <a:spcPts val="1200"/>
              </a:spcBef>
              <a:defRPr sz="1800">
                <a:latin typeface="Microsoft YaHei"/>
              </a:defRPr>
            </a:pPr>
            <a:r>
              <a:t>| 级别 | 温度阈值 | 局放阈值 | 响应措施 |</a:t>
            </a:r>
          </a:p>
          <a:p>
            <a:pPr>
              <a:spcBef>
                <a:spcPts val="1200"/>
              </a:spcBef>
              <a:defRPr sz="1800">
                <a:latin typeface="Microsoft YaHei"/>
              </a:defRPr>
            </a:pPr>
            <a:r>
              <a:t>|-----|---------|---------|---------|</a:t>
            </a:r>
          </a:p>
          <a:p>
            <a:pPr>
              <a:spcBef>
                <a:spcPts val="1200"/>
              </a:spcBef>
              <a:defRPr sz="1800">
                <a:latin typeface="Microsoft YaHei"/>
              </a:defRPr>
            </a:pPr>
            <a:r>
              <a:t>| 黄色预警 | 70℃ | 20dB | 加强监控，安排巡检 |</a:t>
            </a:r>
          </a:p>
          <a:p>
            <a:pPr>
              <a:spcBef>
                <a:spcPts val="1200"/>
              </a:spcBef>
              <a:defRPr sz="1800">
                <a:latin typeface="Microsoft YaHei"/>
              </a:defRPr>
            </a:pPr>
            <a:r>
              <a:t>| 橙色预警 | 80℃ | 35dB | 申请停电检修准备 |</a:t>
            </a:r>
          </a:p>
          <a:p>
            <a:pPr>
              <a:spcBef>
                <a:spcPts val="1200"/>
              </a:spcBef>
              <a:defRPr sz="1800">
                <a:latin typeface="Microsoft YaHei"/>
              </a:defRPr>
            </a:pPr>
            <a:r>
              <a:t>| 红色告警 | 90℃ | 45dB | 立即启动紧急处置 |</a:t>
            </a:r>
          </a:p>
          <a:p>
            <a:pPr>
              <a:spcBef>
                <a:spcPts val="1200"/>
              </a:spcBef>
              <a:defRPr sz="2000">
                <a:latin typeface="Microsoft YaHei"/>
              </a:defRPr>
            </a:pPr>
            <a:r>
              <a:t>紧急处置流程</a:t>
            </a:r>
          </a:p>
          <a:p>
            <a:pPr>
              <a:spcBef>
                <a:spcPts val="1200"/>
              </a:spcBef>
              <a:defRPr sz="2000">
                <a:latin typeface="Microsoft YaHei"/>
              </a:defRPr>
            </a:pPr>
            <a:r>
              <a:t>1. 向电力调度及上级汇报</a:t>
            </a:r>
          </a:p>
          <a:p>
            <a:pPr>
              <a:spcBef>
                <a:spcPts val="1200"/>
              </a:spcBef>
              <a:defRPr sz="2000">
                <a:latin typeface="Microsoft YaHei"/>
              </a:defRPr>
            </a:pPr>
            <a:r>
              <a:t>2. 申请转移负荷</a:t>
            </a:r>
          </a:p>
          <a:p>
            <a:pPr>
              <a:spcBef>
                <a:spcPts val="1200"/>
              </a:spcBef>
              <a:defRPr sz="2000">
                <a:latin typeface="Microsoft YaHei"/>
              </a:defRPr>
            </a:pPr>
            <a:r>
              <a:t>3. 倒闸操作隔离故障断路器</a:t>
            </a:r>
          </a:p>
          <a:p>
            <a:pPr>
              <a:spcBef>
                <a:spcPts val="1200"/>
              </a:spcBef>
              <a:defRPr sz="2000">
                <a:latin typeface="Microsoft YaHei"/>
              </a:defRPr>
            </a:pPr>
            <a:r>
              <a:t>4. 限制负荷，加强排风散热</a:t>
            </a:r>
          </a:p>
          <a:p>
            <a:pPr>
              <a:spcBef>
                <a:spcPts val="1200"/>
              </a:spcBef>
              <a:defRPr sz="2000">
                <a:latin typeface="Microsoft YaHei"/>
              </a:defRPr>
            </a:pPr>
            <a:r>
              <a:t>5. 专人现场值守，连续监测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#17 模拟分析（一）</a:t>
            </a:r>
          </a:p>
        </p:txBody>
      </p:sp>
      <p:sp>
        <p:nvSpPr>
          <p:cNvPr id="3" name="Content Placeholder 2"/>
          <p:cNvSpPr>
            <a:spLocks noGrp="1"/>
          </p:cNvSpPr>
          <p:nvPr>
            <p:ph idx="1"/>
          </p:nvPr>
        </p:nvSpPr>
        <p:spPr/>
        <p:txBody>
          <a:bodyPr/>
          <a:lstStyle/>
          <a:p>
            <a:pPr>
              <a:spcBef>
                <a:spcPts val="1200"/>
              </a:spcBef>
              <a:defRPr sz="2000">
                <a:latin typeface="Microsoft YaHei"/>
              </a:defRPr>
            </a:pPr>
            <a:r>
              <a:t>模拟参数设置</a:t>
            </a:r>
          </a:p>
          <a:p>
            <a:pPr>
              <a:spcBef>
                <a:spcPts val="1200"/>
              </a:spcBef>
              <a:defRPr sz="1800">
                <a:latin typeface="Microsoft YaHei"/>
              </a:defRPr>
            </a:pPr>
            <a:r>
              <a:t>| 参数类别 | 参数名称 | 数值 |</a:t>
            </a:r>
          </a:p>
          <a:p>
            <a:pPr>
              <a:spcBef>
                <a:spcPts val="1200"/>
              </a:spcBef>
              <a:defRPr sz="1800">
                <a:latin typeface="Microsoft YaHei"/>
              </a:defRPr>
            </a:pPr>
            <a:r>
              <a:t>|---------|---------|------|</a:t>
            </a:r>
          </a:p>
          <a:p>
            <a:pPr>
              <a:spcBef>
                <a:spcPts val="1200"/>
              </a:spcBef>
              <a:defRPr sz="1800">
                <a:latin typeface="Microsoft YaHei"/>
              </a:defRPr>
            </a:pPr>
            <a:r>
              <a:t>| 模拟周期 | 时间跨度 | 365天 |</a:t>
            </a:r>
          </a:p>
          <a:p>
            <a:pPr>
              <a:spcBef>
                <a:spcPts val="1200"/>
              </a:spcBef>
              <a:defRPr sz="1800">
                <a:latin typeface="Microsoft YaHei"/>
              </a:defRPr>
            </a:pPr>
            <a:r>
              <a:t>| 温度参数 | 预警/告警阈值 | 70℃/90℃ |</a:t>
            </a:r>
          </a:p>
          <a:p>
            <a:pPr>
              <a:spcBef>
                <a:spcPts val="1200"/>
              </a:spcBef>
              <a:defRPr sz="1800">
                <a:latin typeface="Microsoft YaHei"/>
              </a:defRPr>
            </a:pPr>
            <a:r>
              <a:t>| 局放参数 | 预警/告警阈值 | 20dB/35dB |</a:t>
            </a:r>
          </a:p>
          <a:p>
            <a:pPr>
              <a:spcBef>
                <a:spcPts val="1200"/>
              </a:spcBef>
              <a:defRPr sz="1800">
                <a:latin typeface="Microsoft YaHei"/>
              </a:defRPr>
            </a:pPr>
            <a:r>
              <a:t>| 负荷参数 | 波动范围 | 200~550A |</a:t>
            </a:r>
          </a:p>
          <a:p>
            <a:pPr>
              <a:spcBef>
                <a:spcPts val="1200"/>
              </a:spcBef>
              <a:defRPr sz="2000">
                <a:latin typeface="Microsoft YaHei"/>
              </a:defRPr>
            </a:pPr>
            <a:r>
              <a:t>温度与负荷相关性</a:t>
            </a:r>
          </a:p>
          <a:p>
            <a:pPr>
              <a:spcBef>
                <a:spcPts val="1200"/>
              </a:spcBef>
              <a:defRPr sz="2000">
                <a:latin typeface="Microsoft YaHei"/>
              </a:defRPr>
            </a:pPr>
            <a:r>
              <a:t>- 相关系数：0.82</a:t>
            </a:r>
          </a:p>
          <a:p>
            <a:pPr>
              <a:spcBef>
                <a:spcPts val="1200"/>
              </a:spcBef>
              <a:defRPr sz="2000">
                <a:latin typeface="Microsoft YaHei"/>
              </a:defRPr>
            </a:pPr>
            <a:r>
              <a:t>- 经验公式：T = 0.043×I + 18.5</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#18 模拟分析（二）效果数据</a:t>
            </a:r>
          </a:p>
        </p:txBody>
      </p:sp>
      <p:sp>
        <p:nvSpPr>
          <p:cNvPr id="3" name="Content Placeholder 2"/>
          <p:cNvSpPr>
            <a:spLocks noGrp="1"/>
          </p:cNvSpPr>
          <p:nvPr>
            <p:ph idx="1"/>
          </p:nvPr>
        </p:nvSpPr>
        <p:spPr/>
        <p:txBody>
          <a:bodyPr>
            <a:normAutofit fontScale="92500" lnSpcReduction="20000"/>
          </a:bodyPr>
          <a:lstStyle/>
          <a:p>
            <a:pPr>
              <a:spcBef>
                <a:spcPts val="1200"/>
              </a:spcBef>
              <a:defRPr sz="2000">
                <a:latin typeface="Microsoft YaHei"/>
              </a:defRPr>
            </a:pPr>
            <a:r>
              <a:t>故障预警效果</a:t>
            </a:r>
          </a:p>
          <a:p>
            <a:pPr>
              <a:spcBef>
                <a:spcPts val="1200"/>
              </a:spcBef>
              <a:defRPr sz="1800">
                <a:latin typeface="Microsoft YaHei"/>
              </a:defRPr>
            </a:pPr>
            <a:r>
              <a:t>| 指标 | 数值 |</a:t>
            </a:r>
          </a:p>
          <a:p>
            <a:pPr>
              <a:spcBef>
                <a:spcPts val="1200"/>
              </a:spcBef>
              <a:defRPr sz="1800">
                <a:latin typeface="Microsoft YaHei"/>
              </a:defRPr>
            </a:pPr>
            <a:r>
              <a:t>|-----|------|</a:t>
            </a:r>
          </a:p>
          <a:p>
            <a:pPr>
              <a:spcBef>
                <a:spcPts val="1200"/>
              </a:spcBef>
              <a:defRPr sz="1800">
                <a:latin typeface="Microsoft YaHei"/>
              </a:defRPr>
            </a:pPr>
            <a:r>
              <a:t>| 预警准确率 | 83.0% |</a:t>
            </a:r>
          </a:p>
          <a:p>
            <a:pPr>
              <a:spcBef>
                <a:spcPts val="1200"/>
              </a:spcBef>
              <a:defRPr sz="1800">
                <a:latin typeface="Microsoft YaHei"/>
              </a:defRPr>
            </a:pPr>
            <a:r>
              <a:t>| 平均提前预警时间 | 24小时 |</a:t>
            </a:r>
          </a:p>
          <a:p>
            <a:pPr>
              <a:spcBef>
                <a:spcPts val="1200"/>
              </a:spcBef>
              <a:defRPr sz="1800">
                <a:latin typeface="Microsoft YaHei"/>
              </a:defRPr>
            </a:pPr>
            <a:r>
              <a:t>| 预警响应时间 | 8.3分钟 |</a:t>
            </a:r>
          </a:p>
          <a:p>
            <a:pPr>
              <a:spcBef>
                <a:spcPts val="1200"/>
              </a:spcBef>
              <a:defRPr sz="2000">
                <a:latin typeface="Microsoft YaHei"/>
              </a:defRPr>
            </a:pPr>
            <a:r>
              <a:t>维护效率提升</a:t>
            </a:r>
          </a:p>
          <a:p>
            <a:pPr>
              <a:spcBef>
                <a:spcPts val="1200"/>
              </a:spcBef>
              <a:defRPr sz="1800">
                <a:latin typeface="Microsoft YaHei"/>
              </a:defRPr>
            </a:pPr>
            <a:r>
              <a:t>| 对比项 | 传统模式 | 在线监测 | 提升 |</a:t>
            </a:r>
          </a:p>
          <a:p>
            <a:pPr>
              <a:spcBef>
                <a:spcPts val="1200"/>
              </a:spcBef>
              <a:defRPr sz="1800">
                <a:latin typeface="Microsoft YaHei"/>
              </a:defRPr>
            </a:pPr>
            <a:r>
              <a:t>|-------|---------|---------|------|</a:t>
            </a:r>
          </a:p>
          <a:p>
            <a:pPr>
              <a:spcBef>
                <a:spcPts val="1200"/>
              </a:spcBef>
              <a:defRPr sz="1800">
                <a:latin typeface="Microsoft YaHei"/>
              </a:defRPr>
            </a:pPr>
            <a:r>
              <a:t>| 巡检时间 | 30分钟 | 5分钟 | 83% |</a:t>
            </a:r>
          </a:p>
          <a:p>
            <a:pPr>
              <a:spcBef>
                <a:spcPts val="1200"/>
              </a:spcBef>
              <a:defRPr sz="1800">
                <a:latin typeface="Microsoft YaHei"/>
              </a:defRPr>
            </a:pPr>
            <a:r>
              <a:t>| 故障发现率 | 65% | 92% | +27% |</a:t>
            </a:r>
          </a:p>
          <a:p>
            <a:pPr>
              <a:spcBef>
                <a:spcPts val="1200"/>
              </a:spcBef>
              <a:defRPr sz="1800">
                <a:latin typeface="Microsoft YaHei"/>
              </a:defRPr>
            </a:pPr>
            <a:r>
              <a:t>| 故障处理时间 | 7.2小时 | 3.5小时 | 51.4%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#19 综合效益分析</a:t>
            </a:r>
          </a:p>
        </p:txBody>
      </p:sp>
      <p:sp>
        <p:nvSpPr>
          <p:cNvPr id="3" name="Content Placeholder 2"/>
          <p:cNvSpPr>
            <a:spLocks noGrp="1"/>
          </p:cNvSpPr>
          <p:nvPr>
            <p:ph idx="1"/>
          </p:nvPr>
        </p:nvSpPr>
        <p:spPr/>
        <p:txBody>
          <a:bodyPr/>
          <a:lstStyle/>
          <a:p>
            <a:pPr>
              <a:spcBef>
                <a:spcPts val="1200"/>
              </a:spcBef>
              <a:defRPr sz="2000">
                <a:latin typeface="Microsoft YaHei"/>
              </a:defRPr>
            </a:pPr>
            <a:r>
              <a:rPr dirty="0" err="1"/>
              <a:t>成本效益</a:t>
            </a:r>
            <a:endParaRPr dirty="0"/>
          </a:p>
          <a:p>
            <a:pPr>
              <a:spcBef>
                <a:spcPts val="1200"/>
              </a:spcBef>
              <a:defRPr sz="2000">
                <a:latin typeface="Microsoft YaHei"/>
              </a:defRPr>
            </a:pPr>
            <a:r>
              <a:rPr dirty="0"/>
              <a:t>- 系统投资：80万元，年均运维成本：8万元</a:t>
            </a:r>
          </a:p>
          <a:p>
            <a:pPr>
              <a:spcBef>
                <a:spcPts val="1200"/>
              </a:spcBef>
              <a:defRPr sz="2000">
                <a:latin typeface="Microsoft YaHei"/>
              </a:defRPr>
            </a:pPr>
            <a:r>
              <a:rPr dirty="0"/>
              <a:t>- 年均节约成本：37万元</a:t>
            </a:r>
          </a:p>
          <a:p>
            <a:pPr>
              <a:spcBef>
                <a:spcPts val="1200"/>
              </a:spcBef>
              <a:defRPr sz="2000">
                <a:latin typeface="Microsoft YaHei"/>
              </a:defRPr>
            </a:pPr>
            <a:r>
              <a:rPr dirty="0"/>
              <a:t>- 投资回收期：5.6年，10年累计净节约：127万元</a:t>
            </a:r>
          </a:p>
          <a:p>
            <a:pPr>
              <a:spcBef>
                <a:spcPts val="1200"/>
              </a:spcBef>
              <a:defRPr sz="2000">
                <a:latin typeface="Microsoft YaHei"/>
              </a:defRPr>
            </a:pPr>
            <a:r>
              <a:rPr dirty="0" err="1"/>
              <a:t>多维度效益</a:t>
            </a:r>
            <a:endParaRPr dirty="0"/>
          </a:p>
          <a:p>
            <a:pPr>
              <a:spcBef>
                <a:spcPts val="1200"/>
              </a:spcBef>
              <a:defRPr sz="1800">
                <a:latin typeface="Microsoft YaHei"/>
              </a:defRPr>
            </a:pPr>
            <a:endParaRPr dirty="0"/>
          </a:p>
        </p:txBody>
      </p:sp>
      <p:sp>
        <p:nvSpPr>
          <p:cNvPr id="4" name="TextBox 3">
            <a:extLst>
              <a:ext uri="{FF2B5EF4-FFF2-40B4-BE49-F238E27FC236}">
                <a16:creationId xmlns:a16="http://schemas.microsoft.com/office/drawing/2014/main" id="{5751193E-3969-B22E-F244-F030644387A9}"/>
              </a:ext>
            </a:extLst>
          </p:cNvPr>
          <p:cNvSpPr txBox="1"/>
          <p:nvPr/>
        </p:nvSpPr>
        <p:spPr>
          <a:xfrm>
            <a:off x="7666074" y="1711842"/>
            <a:ext cx="3965945" cy="3385542"/>
          </a:xfrm>
          <a:prstGeom prst="rect">
            <a:avLst/>
          </a:prstGeom>
          <a:noFill/>
        </p:spPr>
        <p:txBody>
          <a:bodyPr wrap="square" rtlCol="0">
            <a:spAutoFit/>
          </a:bodyPr>
          <a:lstStyle/>
          <a:p>
            <a:pPr>
              <a:spcBef>
                <a:spcPts val="1200"/>
              </a:spcBef>
              <a:defRPr sz="1800">
                <a:latin typeface="Microsoft YaHei"/>
              </a:defRPr>
            </a:pPr>
            <a:r>
              <a:rPr lang="en-US" altLang="zh-CN" dirty="0"/>
              <a:t>| </a:t>
            </a:r>
            <a:r>
              <a:rPr lang="zh-CN" altLang="en-US" dirty="0"/>
              <a:t>维度 </a:t>
            </a:r>
            <a:r>
              <a:rPr lang="en-US" altLang="zh-CN" dirty="0"/>
              <a:t>| </a:t>
            </a:r>
            <a:r>
              <a:rPr lang="zh-CN" altLang="en-US" dirty="0"/>
              <a:t>评分 </a:t>
            </a:r>
            <a:r>
              <a:rPr lang="en-US" altLang="zh-CN" dirty="0"/>
              <a:t>|</a:t>
            </a:r>
          </a:p>
          <a:p>
            <a:pPr>
              <a:spcBef>
                <a:spcPts val="1200"/>
              </a:spcBef>
              <a:defRPr sz="1800">
                <a:latin typeface="Microsoft YaHei"/>
              </a:defRPr>
            </a:pPr>
            <a:r>
              <a:rPr lang="en-US" altLang="zh-CN" dirty="0"/>
              <a:t>|-----|------|</a:t>
            </a:r>
          </a:p>
          <a:p>
            <a:pPr>
              <a:spcBef>
                <a:spcPts val="1200"/>
              </a:spcBef>
              <a:defRPr sz="1800">
                <a:latin typeface="Microsoft YaHei"/>
              </a:defRPr>
            </a:pPr>
            <a:r>
              <a:rPr lang="en-US" altLang="zh-CN" dirty="0"/>
              <a:t>| </a:t>
            </a:r>
            <a:r>
              <a:rPr lang="zh-CN" altLang="en-US" dirty="0"/>
              <a:t>故障预防 </a:t>
            </a:r>
            <a:r>
              <a:rPr lang="en-US" altLang="zh-CN" dirty="0"/>
              <a:t>| 85 |</a:t>
            </a:r>
          </a:p>
          <a:p>
            <a:pPr>
              <a:spcBef>
                <a:spcPts val="1200"/>
              </a:spcBef>
              <a:defRPr sz="1800">
                <a:latin typeface="Microsoft YaHei"/>
              </a:defRPr>
            </a:pPr>
            <a:r>
              <a:rPr lang="en-US" altLang="zh-CN" dirty="0"/>
              <a:t>| </a:t>
            </a:r>
            <a:r>
              <a:rPr lang="zh-CN" altLang="en-US" dirty="0"/>
              <a:t>运维效率 </a:t>
            </a:r>
            <a:r>
              <a:rPr lang="en-US" altLang="zh-CN" dirty="0"/>
              <a:t>| 92 |</a:t>
            </a:r>
          </a:p>
          <a:p>
            <a:pPr>
              <a:spcBef>
                <a:spcPts val="1200"/>
              </a:spcBef>
              <a:defRPr sz="1800">
                <a:latin typeface="Microsoft YaHei"/>
              </a:defRPr>
            </a:pPr>
            <a:r>
              <a:rPr lang="en-US" altLang="zh-CN" dirty="0"/>
              <a:t>| </a:t>
            </a:r>
            <a:r>
              <a:rPr lang="zh-CN" altLang="en-US" dirty="0"/>
              <a:t>供电可靠性 </a:t>
            </a:r>
            <a:r>
              <a:rPr lang="en-US" altLang="zh-CN" dirty="0"/>
              <a:t>| 88 |</a:t>
            </a:r>
          </a:p>
          <a:p>
            <a:pPr>
              <a:spcBef>
                <a:spcPts val="1200"/>
              </a:spcBef>
              <a:defRPr sz="1800">
                <a:latin typeface="Microsoft YaHei"/>
              </a:defRPr>
            </a:pPr>
            <a:r>
              <a:rPr lang="en-US" altLang="zh-CN" dirty="0"/>
              <a:t>| </a:t>
            </a:r>
            <a:r>
              <a:rPr lang="zh-CN" altLang="en-US" dirty="0"/>
              <a:t>设备寿命 </a:t>
            </a:r>
            <a:r>
              <a:rPr lang="en-US" altLang="zh-CN" dirty="0"/>
              <a:t>| 75 |</a:t>
            </a:r>
          </a:p>
          <a:p>
            <a:pPr>
              <a:spcBef>
                <a:spcPts val="1200"/>
              </a:spcBef>
              <a:defRPr sz="1800">
                <a:latin typeface="Microsoft YaHei"/>
              </a:defRPr>
            </a:pPr>
            <a:r>
              <a:rPr lang="en-US" altLang="zh-CN" dirty="0"/>
              <a:t>| </a:t>
            </a:r>
            <a:r>
              <a:rPr lang="zh-CN" altLang="en-US" dirty="0"/>
              <a:t>数据价值 </a:t>
            </a:r>
            <a:r>
              <a:rPr lang="en-US" altLang="zh-CN" dirty="0"/>
              <a:t>| 80 |</a:t>
            </a:r>
          </a:p>
          <a:p>
            <a:pPr>
              <a:spcBef>
                <a:spcPts val="1200"/>
              </a:spcBef>
              <a:defRPr sz="1800">
                <a:latin typeface="Microsoft YaHei"/>
              </a:defRPr>
            </a:pPr>
            <a:r>
              <a:rPr lang="en-US" altLang="zh-CN" dirty="0"/>
              <a:t>| </a:t>
            </a:r>
            <a:r>
              <a:rPr lang="zh-CN" altLang="en-US" dirty="0"/>
              <a:t>管理水平 </a:t>
            </a:r>
            <a:r>
              <a:rPr lang="en-US" altLang="zh-CN" dirty="0"/>
              <a:t>| 78 |</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#20 主要结论</a:t>
            </a:r>
          </a:p>
        </p:txBody>
      </p:sp>
      <p:sp>
        <p:nvSpPr>
          <p:cNvPr id="3" name="Content Placeholder 2"/>
          <p:cNvSpPr>
            <a:spLocks noGrp="1"/>
          </p:cNvSpPr>
          <p:nvPr>
            <p:ph idx="1"/>
          </p:nvPr>
        </p:nvSpPr>
        <p:spPr/>
        <p:txBody>
          <a:bodyPr/>
          <a:lstStyle/>
          <a:p>
            <a:pPr>
              <a:spcBef>
                <a:spcPts val="1400"/>
              </a:spcBef>
              <a:defRPr sz="2000">
                <a:latin typeface="Microsoft YaHei"/>
              </a:defRPr>
            </a:pPr>
            <a:r>
              <a:t>1. 理论研究：系统分析了高压开关柜三大类故障（过热38%、绝缘35%、机械27%）的形成机理和监测需求</a:t>
            </a:r>
          </a:p>
          <a:p>
            <a:pPr>
              <a:spcBef>
                <a:spcPts val="1400"/>
              </a:spcBef>
              <a:defRPr sz="2000">
                <a:latin typeface="Microsoft YaHei"/>
              </a:defRPr>
            </a:pPr>
            <a:r>
              <a:t>2. 技术应用：明确了温度、局放、机械特性监测技术的选型原则和安装工艺</a:t>
            </a:r>
          </a:p>
          <a:p>
            <a:pPr>
              <a:spcBef>
                <a:spcPts val="1400"/>
              </a:spcBef>
              <a:defRPr sz="2000">
                <a:latin typeface="Microsoft YaHei"/>
              </a:defRPr>
            </a:pPr>
            <a:r>
              <a:t>3. 实践验证：案例分析表明，故障发现时间从3天缩短至23分钟</a:t>
            </a:r>
          </a:p>
          <a:p>
            <a:pPr>
              <a:spcBef>
                <a:spcPts val="1400"/>
              </a:spcBef>
              <a:defRPr sz="2000">
                <a:latin typeface="Microsoft YaHei"/>
              </a:defRPr>
            </a:pPr>
            <a:r>
              <a:t>4. 效果评估：模拟分析显示，故障发现率提升至92%，维护成本降低18%</a:t>
            </a:r>
          </a:p>
          <a:p>
            <a:pPr>
              <a:spcBef>
                <a:spcPts val="1400"/>
              </a:spcBef>
              <a:defRPr sz="2000">
                <a:latin typeface="Microsoft YaHei"/>
              </a:defRPr>
            </a:pPr>
            <a:r>
              <a:t>5. 应用价值：研究成果对一线供电维修人员具有较强的指导意义</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#21 创新点</a:t>
            </a:r>
          </a:p>
        </p:txBody>
      </p:sp>
      <p:sp>
        <p:nvSpPr>
          <p:cNvPr id="3" name="Content Placeholder 2"/>
          <p:cNvSpPr>
            <a:spLocks noGrp="1"/>
          </p:cNvSpPr>
          <p:nvPr>
            <p:ph idx="1"/>
          </p:nvPr>
        </p:nvSpPr>
        <p:spPr/>
        <p:txBody>
          <a:bodyPr/>
          <a:lstStyle/>
          <a:p>
            <a:pPr>
              <a:spcBef>
                <a:spcPts val="1200"/>
              </a:spcBef>
              <a:defRPr sz="2000">
                <a:latin typeface="Microsoft YaHei"/>
              </a:defRPr>
            </a:pPr>
            <a:r>
              <a:t>1. 实践导向：从一线维修人员角度出发，注重研究成果的实用性和可操作性</a:t>
            </a:r>
          </a:p>
          <a:p>
            <a:pPr>
              <a:spcBef>
                <a:spcPts val="1200"/>
              </a:spcBef>
              <a:defRPr sz="2000">
                <a:latin typeface="Microsoft YaHei"/>
              </a:defRPr>
            </a:pPr>
            <a:r>
              <a:t>2. 系统整合：将监测技术、安装工艺、维护策略和故障处理进行系统整合</a:t>
            </a:r>
          </a:p>
          <a:p>
            <a:pPr>
              <a:spcBef>
                <a:spcPts val="1200"/>
              </a:spcBef>
              <a:defRPr sz="2000">
                <a:latin typeface="Microsoft YaHei"/>
              </a:defRPr>
            </a:pPr>
            <a:r>
              <a:t>3. 案例支撑：结合实际故障案例进行分析，增强论文说服力</a:t>
            </a:r>
          </a:p>
          <a:p>
            <a:pPr>
              <a:spcBef>
                <a:spcPts val="1200"/>
              </a:spcBef>
              <a:defRPr sz="2000">
                <a:latin typeface="Microsoft YaHei"/>
              </a:defRPr>
            </a:pPr>
            <a:r>
              <a:t>4. 数据验证：通过模拟分析量化评估在线监测技术的应用效果</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#22 展望与建议</a:t>
            </a:r>
          </a:p>
        </p:txBody>
      </p:sp>
      <p:sp>
        <p:nvSpPr>
          <p:cNvPr id="3" name="Content Placeholder 2"/>
          <p:cNvSpPr>
            <a:spLocks noGrp="1"/>
          </p:cNvSpPr>
          <p:nvPr>
            <p:ph idx="1"/>
          </p:nvPr>
        </p:nvSpPr>
        <p:spPr/>
        <p:txBody>
          <a:bodyPr/>
          <a:lstStyle/>
          <a:p>
            <a:pPr>
              <a:spcBef>
                <a:spcPts val="1200"/>
              </a:spcBef>
              <a:defRPr sz="2000">
                <a:latin typeface="Microsoft YaHei"/>
              </a:defRPr>
            </a:pPr>
            <a:r>
              <a:t>技术发展趋势</a:t>
            </a:r>
          </a:p>
          <a:p>
            <a:pPr>
              <a:spcBef>
                <a:spcPts val="1200"/>
              </a:spcBef>
              <a:defRPr sz="2000">
                <a:latin typeface="Microsoft YaHei"/>
              </a:defRPr>
            </a:pPr>
            <a:r>
              <a:t>- 人工智能与大数据分析结合</a:t>
            </a:r>
          </a:p>
          <a:p>
            <a:pPr>
              <a:spcBef>
                <a:spcPts val="1200"/>
              </a:spcBef>
              <a:defRPr sz="2000">
                <a:latin typeface="Microsoft YaHei"/>
              </a:defRPr>
            </a:pPr>
            <a:r>
              <a:t>- 多源信息融合诊断</a:t>
            </a:r>
          </a:p>
          <a:p>
            <a:pPr>
              <a:spcBef>
                <a:spcPts val="1200"/>
              </a:spcBef>
              <a:defRPr sz="2000">
                <a:latin typeface="Microsoft YaHei"/>
              </a:defRPr>
            </a:pPr>
            <a:r>
              <a:t>- 预测性维护技术应用</a:t>
            </a:r>
          </a:p>
          <a:p>
            <a:pPr>
              <a:spcBef>
                <a:spcPts val="1200"/>
              </a:spcBef>
              <a:defRPr sz="2000">
                <a:latin typeface="Microsoft YaHei"/>
              </a:defRPr>
            </a:pPr>
            <a:r>
              <a:t>应用建议</a:t>
            </a:r>
          </a:p>
          <a:p>
            <a:pPr>
              <a:spcBef>
                <a:spcPts val="1200"/>
              </a:spcBef>
              <a:defRPr sz="2000">
                <a:latin typeface="Microsoft YaHei"/>
              </a:defRPr>
            </a:pPr>
            <a:r>
              <a:t>1. 规范监测设备安装调试标准化</a:t>
            </a:r>
          </a:p>
          <a:p>
            <a:pPr>
              <a:spcBef>
                <a:spcPts val="1200"/>
              </a:spcBef>
              <a:defRPr sz="2000">
                <a:latin typeface="Microsoft YaHei"/>
              </a:defRPr>
            </a:pPr>
            <a:r>
              <a:t>2. 加强运维人员数据分析能力培训</a:t>
            </a:r>
          </a:p>
          <a:p>
            <a:pPr>
              <a:spcBef>
                <a:spcPts val="1200"/>
              </a:spcBef>
              <a:defRPr sz="2000">
                <a:latin typeface="Microsoft YaHei"/>
              </a:defRPr>
            </a:pPr>
            <a:r>
              <a:t>3. 建立统一的数据共享机制</a:t>
            </a:r>
          </a:p>
          <a:p>
            <a:pPr>
              <a:spcBef>
                <a:spcPts val="1200"/>
              </a:spcBef>
              <a:defRPr sz="2000">
                <a:latin typeface="Microsoft YaHei"/>
              </a:defRPr>
            </a:pPr>
            <a:r>
              <a:t>4. 推动状态检修模式普及</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sz="3200" b="1">
                <a:latin typeface="Microsoft YaHei"/>
              </a:defRPr>
            </a:pPr>
            <a:r>
              <a:t>#23 致谢</a:t>
            </a:r>
          </a:p>
        </p:txBody>
      </p:sp>
      <p:sp>
        <p:nvSpPr>
          <p:cNvPr id="3" name="Content Placeholder 2"/>
          <p:cNvSpPr>
            <a:spLocks noGrp="1"/>
          </p:cNvSpPr>
          <p:nvPr>
            <p:ph idx="1"/>
          </p:nvPr>
        </p:nvSpPr>
        <p:spPr/>
        <p:txBody>
          <a:bodyPr/>
          <a:lstStyle/>
          <a:p>
            <a:pPr algn="ctr">
              <a:spcBef>
                <a:spcPts val="1400"/>
              </a:spcBef>
              <a:defRPr sz="2800">
                <a:latin typeface="Microsoft YaHei"/>
              </a:defRPr>
            </a:pPr>
            <a:r>
              <a:t>感谢</a:t>
            </a:r>
          </a:p>
          <a:p>
            <a:pPr algn="ctr">
              <a:spcBef>
                <a:spcPts val="1400"/>
              </a:spcBef>
              <a:defRPr sz="2800">
                <a:latin typeface="Microsoft YaHei"/>
              </a:defRPr>
            </a:pPr>
            <a:r>
              <a:t>- 感谢指导教师孙乾坤的悉心指导</a:t>
            </a:r>
          </a:p>
          <a:p>
            <a:pPr algn="ctr">
              <a:spcBef>
                <a:spcPts val="1400"/>
              </a:spcBef>
              <a:defRPr sz="2800">
                <a:latin typeface="Microsoft YaHei"/>
              </a:defRPr>
            </a:pPr>
            <a:r>
              <a:t>- 感谢各位评委老师的聆听</a:t>
            </a:r>
          </a:p>
          <a:p>
            <a:pPr>
              <a:spcBef>
                <a:spcPts val="1400"/>
              </a:spcBef>
              <a:defRPr sz="2000">
                <a:latin typeface="Microsoft YaHei"/>
              </a:defRPr>
            </a:pPr>
            <a:r>
              <a:t>恳请批评指正</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1203</Words>
  <Application>Microsoft Macintosh PowerPoint</Application>
  <PresentationFormat>Widescreen</PresentationFormat>
  <Paragraphs>229</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#1 封面</vt:lpstr>
      <vt:lpstr>目 录</vt:lpstr>
      <vt:lpstr>#3 研究背景（一）</vt:lpstr>
      <vt:lpstr>#4 研究背景（二）</vt:lpstr>
      <vt:lpstr>#5 研究方法与技术路线</vt:lpstr>
      <vt:lpstr>#6 高压开关柜常见故障（一）</vt:lpstr>
      <vt:lpstr>#7 高压开关柜常见故障（二）</vt:lpstr>
      <vt:lpstr>#8 温度监测技术</vt:lpstr>
      <vt:lpstr>#9 局部放电监测技术</vt:lpstr>
      <vt:lpstr>#10 监测系统架构</vt:lpstr>
      <vt:lpstr>#11 维护策略</vt:lpstr>
      <vt:lpstr>#12 案例分析（一）触头过热故障</vt:lpstr>
      <vt:lpstr>#13 案例分析（一）故障处理</vt:lpstr>
      <vt:lpstr>#14 案例分析（二）局部放电故障</vt:lpstr>
      <vt:lpstr>#15 案例分析（二）故障处理</vt:lpstr>
      <vt:lpstr>#16 应急处置预案</vt:lpstr>
      <vt:lpstr>#17 模拟分析（一）</vt:lpstr>
      <vt:lpstr>#18 模拟分析（二）效果数据</vt:lpstr>
      <vt:lpstr>#19 综合效益分析</vt:lpstr>
      <vt:lpstr>#20 主要结论</vt:lpstr>
      <vt:lpstr>#21 创新点</vt:lpstr>
      <vt:lpstr>#22 展望与建议</vt:lpstr>
      <vt:lpstr>#23 致谢</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#WANG RUNYAN#</cp:lastModifiedBy>
  <cp:revision>2</cp:revision>
  <dcterms:created xsi:type="dcterms:W3CDTF">2013-01-27T09:14:16Z</dcterms:created>
  <dcterms:modified xsi:type="dcterms:W3CDTF">2026-01-29T10:33:25Z</dcterms:modified>
  <cp:category/>
</cp:coreProperties>
</file>